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media/image39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97" r:id="rId2"/>
  </p:sldMasterIdLst>
  <p:sldIdLst>
    <p:sldId id="256" r:id="rId3"/>
    <p:sldId id="371" r:id="rId4"/>
    <p:sldId id="285" r:id="rId5"/>
    <p:sldId id="345" r:id="rId6"/>
    <p:sldId id="349" r:id="rId7"/>
    <p:sldId id="372" r:id="rId8"/>
    <p:sldId id="373" r:id="rId9"/>
    <p:sldId id="357" r:id="rId10"/>
    <p:sldId id="359" r:id="rId11"/>
    <p:sldId id="365" r:id="rId12"/>
    <p:sldId id="374" r:id="rId13"/>
    <p:sldId id="363" r:id="rId14"/>
    <p:sldId id="375" r:id="rId15"/>
    <p:sldId id="376" r:id="rId16"/>
    <p:sldId id="265" r:id="rId17"/>
    <p:sldId id="266" r:id="rId18"/>
    <p:sldId id="267" r:id="rId19"/>
    <p:sldId id="268" r:id="rId20"/>
    <p:sldId id="269" r:id="rId21"/>
    <p:sldId id="283" r:id="rId22"/>
    <p:sldId id="368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B"/>
    <a:srgbClr val="DAF0FE"/>
    <a:srgbClr val="CFD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076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077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3078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79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080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3081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82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308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93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5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0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0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6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98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0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7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08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95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23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r>
              <a:rPr lang="en-US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67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534B5-311C-4C52-B46C-AF330566D9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69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076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077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3078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79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080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3081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082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08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89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9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95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75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62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60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11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681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61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429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r>
              <a:rPr lang="en-US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0CD12968-FBC7-47E6-9A7B-22A18F01D64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F39618F-FC01-49C4-A871-20C4C2818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800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45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96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810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3980F5E7-D633-4D76-96E0-7733987B48D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D69FDF-5E87-4A3C-8AD8-B310F65E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5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BCBA-16D2-B66C-7814-031EE4940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55" y="1644337"/>
            <a:ext cx="9896444" cy="1550406"/>
          </a:xfrm>
        </p:spPr>
        <p:txBody>
          <a:bodyPr/>
          <a:lstStyle/>
          <a:p>
            <a:pPr algn="ctr"/>
            <a:r>
              <a:rPr lang="en-US" sz="3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Embryonic Period (3-8 weeks)</a:t>
            </a:r>
            <a:endParaRPr lang="en-IN" sz="3600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3D405E18-F761-228E-BEFE-77CC2C4F5C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9732" y="4156753"/>
            <a:ext cx="2837468" cy="1706719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D8BE9F4-8360-696A-6197-1B462BCB29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75177" y="4156753"/>
            <a:ext cx="7041645" cy="1837853"/>
          </a:xfrm>
        </p:spPr>
        <p:txBody>
          <a:bodyPr/>
          <a:lstStyle/>
          <a:p>
            <a:pPr marL="26988" algn="ctr"/>
            <a:r>
              <a:rPr lang="en-US" sz="2400" b="1" dirty="0">
                <a:solidFill>
                  <a:srgbClr val="FF0000"/>
                </a:solidFill>
              </a:rPr>
              <a:t>Dr. Khizer Hussain Afroze. M </a:t>
            </a:r>
          </a:p>
          <a:p>
            <a:pPr marL="26988" algn="ctr"/>
            <a:r>
              <a:rPr lang="en-US" sz="2400" b="1" dirty="0"/>
              <a:t>Associate Professor, </a:t>
            </a:r>
          </a:p>
          <a:p>
            <a:pPr marL="26988" algn="ctr"/>
            <a:r>
              <a:rPr lang="en-US" sz="2400" b="1" dirty="0"/>
              <a:t>Dept of Anatomy &amp; Neurobiology </a:t>
            </a:r>
          </a:p>
          <a:p>
            <a:pPr marL="26988" algn="ctr"/>
            <a:r>
              <a:rPr lang="en-US" sz="2400" b="1" dirty="0"/>
              <a:t>COMHS, NUST, Oman</a:t>
            </a:r>
          </a:p>
        </p:txBody>
      </p:sp>
      <p:pic>
        <p:nvPicPr>
          <p:cNvPr id="9" name="Picture 8" descr="studio.jpg">
            <a:extLst>
              <a:ext uri="{FF2B5EF4-FFF2-40B4-BE49-F238E27FC236}">
                <a16:creationId xmlns:a16="http://schemas.microsoft.com/office/drawing/2014/main" id="{93276CE1-AF9A-7B02-B2C7-CA7356A3BB9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3886200"/>
            <a:ext cx="2054578" cy="27736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7138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EB5D7E-E548-B65F-8134-58D85C4A7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964548"/>
              </p:ext>
            </p:extLst>
          </p:nvPr>
        </p:nvGraphicFramePr>
        <p:xfrm>
          <a:off x="1293663" y="2251164"/>
          <a:ext cx="10152665" cy="41148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65766">
                  <a:extLst>
                    <a:ext uri="{9D8B030D-6E8A-4147-A177-3AD203B41FA5}">
                      <a16:colId xmlns:a16="http://schemas.microsoft.com/office/drawing/2014/main" val="2359141087"/>
                    </a:ext>
                  </a:extLst>
                </a:gridCol>
                <a:gridCol w="9486899">
                  <a:extLst>
                    <a:ext uri="{9D8B030D-6E8A-4147-A177-3AD203B41FA5}">
                      <a16:colId xmlns:a16="http://schemas.microsoft.com/office/drawing/2014/main" val="4021511790"/>
                    </a:ext>
                  </a:extLst>
                </a:gridCol>
              </a:tblGrid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Define</a:t>
                      </a:r>
                      <a:r>
                        <a:rPr lang="en-IN" sz="2400" b="1" spc="-21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embryonic</a:t>
                      </a:r>
                      <a:r>
                        <a:rPr lang="en-IN" sz="2400" b="1" spc="-2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period.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38531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Describe</a:t>
                      </a:r>
                      <a:r>
                        <a:rPr lang="en-IN" sz="2400" b="1" spc="-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9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major</a:t>
                      </a:r>
                      <a:r>
                        <a:rPr lang="en-IN" sz="2400" b="1" spc="-21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5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events</a:t>
                      </a:r>
                      <a:r>
                        <a:rPr lang="en-IN" sz="2400" b="1" spc="-21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occurring</a:t>
                      </a:r>
                      <a:r>
                        <a:rPr lang="en-IN" sz="2400" b="1" spc="-19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7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r>
                        <a:rPr lang="en-IN" sz="2400" b="1" spc="-22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embryonic</a:t>
                      </a:r>
                      <a:r>
                        <a:rPr lang="en-IN" sz="2400" b="1" spc="-22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2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period.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253827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3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Organ</a:t>
                      </a:r>
                      <a:r>
                        <a:rPr lang="en-IN" sz="2400" b="1" spc="-2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formation.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64740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Embryonic</a:t>
                      </a:r>
                      <a:r>
                        <a:rPr lang="en-IN" sz="2400" b="1" spc="-21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Folding.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35043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6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Formation</a:t>
                      </a:r>
                      <a:r>
                        <a:rPr lang="en-IN" sz="2400" b="1" spc="-229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en-IN" sz="2400" b="1" spc="-229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6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pharyngeal</a:t>
                      </a:r>
                      <a:r>
                        <a:rPr lang="en-IN" sz="2400" b="1" spc="-204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arches.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171720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9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</a:t>
                      </a:r>
                      <a:r>
                        <a:rPr lang="en-IN" sz="2400" b="1" spc="-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appearance</a:t>
                      </a:r>
                      <a:r>
                        <a:rPr lang="en-IN" sz="2400" b="1" spc="-18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en-IN" sz="2400" b="1" spc="-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human</a:t>
                      </a:r>
                      <a:r>
                        <a:rPr lang="en-IN" sz="2400" b="1" spc="-2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like.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026244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6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Formation</a:t>
                      </a:r>
                      <a:r>
                        <a:rPr lang="en-IN" sz="2400" b="1" spc="-2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en-IN" sz="2400" b="1" spc="-2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5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upper</a:t>
                      </a:r>
                      <a:r>
                        <a:rPr lang="en-IN" sz="2400" b="1" spc="-2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</a:t>
                      </a:r>
                      <a:r>
                        <a:rPr lang="en-IN" sz="2400" b="1" spc="-24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9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lower</a:t>
                      </a:r>
                      <a:r>
                        <a:rPr lang="en-IN" sz="2400" b="1" spc="-2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limbs.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455807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7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Intestinal</a:t>
                      </a:r>
                      <a:r>
                        <a:rPr lang="en-IN" sz="2400" b="1" spc="-2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herniation.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166698"/>
                  </a:ext>
                </a:extLst>
              </a:tr>
              <a:tr h="4538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</a:t>
                      </a:r>
                      <a:r>
                        <a:rPr lang="en-IN" sz="2400" b="1" spc="-24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en-IN" sz="2400" b="1" spc="-229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8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determine</a:t>
                      </a:r>
                      <a:r>
                        <a:rPr lang="en-IN" sz="2400" b="1" spc="-2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5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en-IN" sz="2400" b="1" spc="-22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8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en-IN" sz="2400" b="1" spc="-2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5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embryo</a:t>
                      </a:r>
                      <a:r>
                        <a:rPr lang="en-IN" sz="2400" b="1" spc="-23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7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r>
                        <a:rPr lang="en-IN" sz="2400" b="1" spc="-2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4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embryonic</a:t>
                      </a:r>
                      <a:r>
                        <a:rPr lang="en-IN" sz="2400" b="1" spc="-24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period.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3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80128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5EEF32E-7570-4C3D-7077-56848C17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585" y="617538"/>
            <a:ext cx="9257146" cy="1143000"/>
          </a:xfrm>
        </p:spPr>
        <p:txBody>
          <a:bodyPr/>
          <a:lstStyle/>
          <a:p>
            <a:pPr algn="ctr"/>
            <a:r>
              <a:rPr lang="en-US" b="1" cap="all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SLO</a:t>
            </a:r>
            <a:r>
              <a:rPr lang="en-US" sz="3200" b="1" cap="all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06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22ADDDF-9A52-B96C-D596-5616E7A7E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0264" y="854896"/>
            <a:ext cx="8125905" cy="747713"/>
          </a:xfrm>
        </p:spPr>
        <p:txBody>
          <a:bodyPr/>
          <a:lstStyle/>
          <a:p>
            <a:r>
              <a:rPr lang="en-US" sz="3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RECAP of Third Week of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255E3-85D8-2183-7D46-B63FD88F289B}"/>
              </a:ext>
            </a:extLst>
          </p:cNvPr>
          <p:cNvSpPr txBox="1"/>
          <p:nvPr/>
        </p:nvSpPr>
        <p:spPr>
          <a:xfrm>
            <a:off x="211916" y="2123023"/>
            <a:ext cx="5375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Prechordal Plate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US" alt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Primitive streak</a:t>
            </a:r>
          </a:p>
        </p:txBody>
      </p:sp>
      <p:pic>
        <p:nvPicPr>
          <p:cNvPr id="2" name="Picture 4" descr="69">
            <a:extLst>
              <a:ext uri="{FF2B5EF4-FFF2-40B4-BE49-F238E27FC236}">
                <a16:creationId xmlns:a16="http://schemas.microsoft.com/office/drawing/2014/main" id="{89212580-7187-53C3-202E-E5296512F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995" y="2004771"/>
            <a:ext cx="2165733" cy="1424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CFB443-5669-221F-9F03-AA9C105E00A6}"/>
              </a:ext>
            </a:extLst>
          </p:cNvPr>
          <p:cNvCxnSpPr>
            <a:cxnSpLocks/>
          </p:cNvCxnSpPr>
          <p:nvPr/>
        </p:nvCxnSpPr>
        <p:spPr bwMode="auto">
          <a:xfrm>
            <a:off x="2782529" y="2349910"/>
            <a:ext cx="162921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pic>
        <p:nvPicPr>
          <p:cNvPr id="11" name="Picture 4">
            <a:extLst>
              <a:ext uri="{FF2B5EF4-FFF2-40B4-BE49-F238E27FC236}">
                <a16:creationId xmlns:a16="http://schemas.microsoft.com/office/drawing/2014/main" id="{37C4DB8F-FB47-0619-1BFF-DFF5A511D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26" y="3815485"/>
            <a:ext cx="2885957" cy="2462766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F36B5C-F646-921D-BE17-09A7C524F116}"/>
              </a:ext>
            </a:extLst>
          </p:cNvPr>
          <p:cNvSpPr/>
          <p:nvPr/>
        </p:nvSpPr>
        <p:spPr bwMode="auto">
          <a:xfrm>
            <a:off x="3148552" y="4751108"/>
            <a:ext cx="1018095" cy="2922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14" name="Picture 4" descr="8">
            <a:extLst>
              <a:ext uri="{FF2B5EF4-FFF2-40B4-BE49-F238E27FC236}">
                <a16:creationId xmlns:a16="http://schemas.microsoft.com/office/drawing/2014/main" id="{A183E3EB-F7A6-9DB5-9571-76485F5E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176" y="3815485"/>
            <a:ext cx="2522507" cy="2479530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9EADC9D-BF27-2E82-79F7-E4C7F1B28E33}"/>
              </a:ext>
            </a:extLst>
          </p:cNvPr>
          <p:cNvSpPr/>
          <p:nvPr/>
        </p:nvSpPr>
        <p:spPr bwMode="auto">
          <a:xfrm>
            <a:off x="5940241" y="4751108"/>
            <a:ext cx="847059" cy="21663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61A04A-521D-DEED-B09B-2EEE73ADEACC}"/>
              </a:ext>
            </a:extLst>
          </p:cNvPr>
          <p:cNvSpPr/>
          <p:nvPr/>
        </p:nvSpPr>
        <p:spPr bwMode="auto">
          <a:xfrm>
            <a:off x="5940242" y="5001173"/>
            <a:ext cx="847059" cy="21663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1CE218-31C1-CA86-0FD3-58E9EC3CB6AC}"/>
              </a:ext>
            </a:extLst>
          </p:cNvPr>
          <p:cNvSpPr/>
          <p:nvPr/>
        </p:nvSpPr>
        <p:spPr bwMode="auto">
          <a:xfrm>
            <a:off x="5711750" y="5539777"/>
            <a:ext cx="847059" cy="36358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48640894-B96A-A0D1-00AE-A4DDA62E2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176" y="3815485"/>
            <a:ext cx="3335099" cy="2462766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14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9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2710" y="2608314"/>
            <a:ext cx="2337608" cy="413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3D2E03A-CDBA-4124-DD49-0A5E7AFC4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53542"/>
            <a:ext cx="3869759" cy="37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NOTochord</a:t>
            </a:r>
            <a:r>
              <a:rPr lang="en-US" sz="24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 Formation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45D9E3-5BB9-DF9B-AFC6-D3F29BD07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29556" y="1908936"/>
            <a:ext cx="4490378" cy="866286"/>
          </a:xfrm>
        </p:spPr>
        <p:txBody>
          <a:bodyPr/>
          <a:lstStyle/>
          <a:p>
            <a:pPr algn="ctr"/>
            <a: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Trilaminar germ disc</a:t>
            </a:r>
            <a:b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</a:br>
            <a: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&amp; gastrulation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F013743-E5E7-7552-09C2-62DBF1E5D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513" y="3185964"/>
            <a:ext cx="3400087" cy="225610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3836265-546D-87CD-8494-AF1E1C718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63"/>
          <a:stretch>
            <a:fillRect/>
          </a:stretch>
        </p:blipFill>
        <p:spPr bwMode="auto">
          <a:xfrm>
            <a:off x="8320258" y="3164089"/>
            <a:ext cx="3613517" cy="2277980"/>
          </a:xfrm>
          <a:prstGeom prst="rect">
            <a:avLst/>
          </a:prstGeom>
          <a:noFill/>
          <a:ln w="1905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ACB33-8333-EDAD-9D89-0F4D6D364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72" y="433633"/>
            <a:ext cx="9059158" cy="74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RECAP of Third Week of development</a:t>
            </a:r>
          </a:p>
        </p:txBody>
      </p:sp>
    </p:spTree>
    <p:extLst>
      <p:ext uri="{BB962C8B-B14F-4D97-AF65-F5344CB8AC3E}">
        <p14:creationId xmlns:p14="http://schemas.microsoft.com/office/powerpoint/2010/main" val="423469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552" y="92242"/>
            <a:ext cx="2847468" cy="2178335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2BDA51A4-DD68-6D5C-1211-4EE0D455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269" y="2352173"/>
            <a:ext cx="2820034" cy="2009274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C15B48A-BFC9-653E-F0FB-6D6A825AC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552" y="4494218"/>
            <a:ext cx="2830000" cy="1913021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D550EC4-8364-7686-A9F8-40D762FED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0020" y="806880"/>
            <a:ext cx="4622845" cy="749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Neural tube development</a:t>
            </a:r>
          </a:p>
        </p:txBody>
      </p:sp>
      <p:pic>
        <p:nvPicPr>
          <p:cNvPr id="11" name="object 8">
            <a:extLst>
              <a:ext uri="{FF2B5EF4-FFF2-40B4-BE49-F238E27FC236}">
                <a16:creationId xmlns:a16="http://schemas.microsoft.com/office/drawing/2014/main" id="{2C3F6856-34CB-9C52-C952-A8412E04F29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73941" y="1931066"/>
            <a:ext cx="2724149" cy="447617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D493926C-9850-D5F5-81B8-7A39A738C48C}"/>
              </a:ext>
            </a:extLst>
          </p:cNvPr>
          <p:cNvSpPr txBox="1"/>
          <p:nvPr/>
        </p:nvSpPr>
        <p:spPr>
          <a:xfrm>
            <a:off x="8739867" y="184594"/>
            <a:ext cx="2962275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b="1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b="1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crest</a:t>
            </a:r>
            <a:r>
              <a:rPr lang="en-US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cells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object 8">
            <a:extLst>
              <a:ext uri="{FF2B5EF4-FFF2-40B4-BE49-F238E27FC236}">
                <a16:creationId xmlns:a16="http://schemas.microsoft.com/office/drawing/2014/main" id="{4D76CBC3-6C14-8A92-731E-989BDC5BADD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2702" y="1926238"/>
            <a:ext cx="5892438" cy="4476172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F0019E-E22E-B511-C581-F9851A35D574}"/>
              </a:ext>
            </a:extLst>
          </p:cNvPr>
          <p:cNvCxnSpPr>
            <a:cxnSpLocks/>
          </p:cNvCxnSpPr>
          <p:nvPr/>
        </p:nvCxnSpPr>
        <p:spPr bwMode="auto">
          <a:xfrm flipV="1">
            <a:off x="4506686" y="2525486"/>
            <a:ext cx="805543" cy="2503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6085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D523-E53C-F592-ED6B-32B15E6615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" y="2133600"/>
            <a:ext cx="10566400" cy="3676650"/>
          </a:xfrm>
        </p:spPr>
        <p:txBody>
          <a:bodyPr/>
          <a:lstStyle/>
          <a:p>
            <a:pPr marL="240665" indent="-227965">
              <a:lnSpc>
                <a:spcPct val="2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4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</a:t>
            </a:r>
            <a:r>
              <a:rPr lang="en-US" sz="2400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2400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</a:t>
            </a:r>
            <a:r>
              <a:rPr lang="en-US" sz="2400" b="1" spc="-245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3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2400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2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</a:t>
            </a:r>
            <a:r>
              <a:rPr lang="en-US" sz="2400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events:</a:t>
            </a:r>
            <a:r>
              <a:rPr lang="en-US" sz="2400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organogenesis</a:t>
            </a:r>
            <a:r>
              <a:rPr lang="en-US" sz="2400" b="1" spc="-185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morphogenesis</a:t>
            </a:r>
            <a:r>
              <a:rPr lang="en-US" sz="24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40665" indent="-227965">
              <a:lnSpc>
                <a:spcPct val="2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Organogenesis:</a:t>
            </a:r>
            <a:r>
              <a:rPr lang="en-US" sz="2400" b="1" spc="-13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stem</a:t>
            </a:r>
            <a:r>
              <a:rPr lang="en-US" sz="2400" b="1" spc="-1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</a:t>
            </a:r>
            <a:r>
              <a:rPr lang="en-US" sz="2400" b="1" spc="-1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400" b="1" spc="-1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forming</a:t>
            </a:r>
            <a:r>
              <a:rPr lang="en-US" sz="2400" b="1" spc="-1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</a:t>
            </a:r>
            <a:r>
              <a:rPr lang="en-US" sz="2400" b="1" spc="-1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primordia.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665" indent="-227965">
              <a:lnSpc>
                <a:spcPct val="2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Morphogenesis:</a:t>
            </a:r>
            <a:r>
              <a:rPr lang="en-US" sz="2400" b="1" spc="-204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z="2400"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</a:t>
            </a:r>
            <a:r>
              <a:rPr lang="en-US" sz="2400"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D4B3DC-9E3E-1681-2570-E260E45BD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2814" y="1107199"/>
            <a:ext cx="6418063" cy="517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Embryonic period</a:t>
            </a:r>
          </a:p>
        </p:txBody>
      </p:sp>
    </p:spTree>
    <p:extLst>
      <p:ext uri="{BB962C8B-B14F-4D97-AF65-F5344CB8AC3E}">
        <p14:creationId xmlns:p14="http://schemas.microsoft.com/office/powerpoint/2010/main" val="46920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F74904-9352-E790-2F80-81B49585190E}"/>
              </a:ext>
            </a:extLst>
          </p:cNvPr>
          <p:cNvSpPr txBox="1"/>
          <p:nvPr/>
        </p:nvSpPr>
        <p:spPr>
          <a:xfrm>
            <a:off x="514152" y="2249363"/>
            <a:ext cx="9497114" cy="3795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480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1300" algn="l"/>
              </a:tabLst>
            </a:pPr>
            <a:r>
              <a:rPr lang="en-US" sz="2400" b="1" spc="-1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400"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germ</a:t>
            </a:r>
            <a:r>
              <a:rPr lang="en-US" sz="2400" b="1" spc="-2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layers:</a:t>
            </a:r>
            <a:r>
              <a:rPr lang="en-US" sz="2400"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ectoderm,</a:t>
            </a:r>
            <a:r>
              <a:rPr lang="en-US" sz="2400" b="1" spc="-2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mesoderm,</a:t>
            </a:r>
            <a:r>
              <a:rPr lang="en-US" sz="2400" b="1" spc="-2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endoderm</a:t>
            </a:r>
            <a:r>
              <a:rPr lang="en-US" sz="2400" b="1" spc="-2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derivatives.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620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lang="en-US" sz="2400"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Neurulation</a:t>
            </a:r>
            <a:r>
              <a:rPr lang="en-US" sz="2400"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lang="en-US" sz="2400"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670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lang="en-US"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lang="en-US" sz="2400"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9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en-US" sz="2400"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en-US" sz="2400"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glands.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660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lang="en-US"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lang="en-US" sz="2400"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</a:t>
            </a:r>
            <a:r>
              <a:rPr lang="en-US" sz="2400"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CVS.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665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lang="en-US"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lang="en-US" sz="2400"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respiratory</a:t>
            </a:r>
            <a:r>
              <a:rPr lang="en-US" sz="2400"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670"/>
              </a:spcBef>
              <a:buClr>
                <a:srgbClr val="002060"/>
              </a:buClr>
              <a:buSzPct val="80000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lang="en-US"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lang="en-US" sz="2400"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genitourinary</a:t>
            </a:r>
            <a:r>
              <a:rPr lang="en-US" sz="2400"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1713D6D-4288-3D03-0196-4BC38A1C4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2814" y="1107199"/>
            <a:ext cx="4593711" cy="517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Organogenesis</a:t>
            </a:r>
          </a:p>
        </p:txBody>
      </p:sp>
    </p:spTree>
    <p:extLst>
      <p:ext uri="{BB962C8B-B14F-4D97-AF65-F5344CB8AC3E}">
        <p14:creationId xmlns:p14="http://schemas.microsoft.com/office/powerpoint/2010/main" val="3071567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08154" y="2017712"/>
            <a:ext cx="7518131" cy="4684745"/>
          </a:xfrm>
        </p:spPr>
        <p:txBody>
          <a:bodyPr wrap="square" anchor="t">
            <a:noAutofit/>
          </a:bodyPr>
          <a:lstStyle/>
          <a:p>
            <a:pPr marL="525463" indent="-525463" eaLnBrk="1" hangingPunct="1">
              <a:lnSpc>
                <a:spcPct val="150000"/>
              </a:lnSpc>
              <a:buFont typeface="Wingdings" pitchFamily="2" charset="2"/>
              <a:buChar char="q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Differentiated into three parts.</a:t>
            </a:r>
          </a:p>
          <a:p>
            <a:pPr marL="525463" indent="-525463" eaLnBrk="1" hangingPunct="1">
              <a:lnSpc>
                <a:spcPct val="150000"/>
              </a:lnSpc>
              <a:buFont typeface="Wingdings" pitchFamily="2" charset="2"/>
              <a:buChar char="q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 cells close to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midline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proliferate &amp; form a thickened  plate of tissue –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PARAXIAL MESODERM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25463" indent="-525463" eaLnBrk="1" hangingPunct="1">
              <a:lnSpc>
                <a:spcPct val="150000"/>
              </a:lnSpc>
              <a:buFont typeface="Wingdings" pitchFamily="2" charset="2"/>
              <a:buChar char="q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More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laterally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 mesoderm remains thin –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LATERAL PLATE MESODERM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25463" indent="-525463" eaLnBrk="1" hangingPunct="1">
              <a:lnSpc>
                <a:spcPct val="150000"/>
              </a:lnSpc>
              <a:buFont typeface="Wingdings" pitchFamily="2" charset="2"/>
              <a:buChar char="q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these two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there is a longitudinal strip of mesoderm –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INTERMEDIATE MESODERM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.  </a:t>
            </a:r>
          </a:p>
        </p:txBody>
      </p:sp>
      <p:pic>
        <p:nvPicPr>
          <p:cNvPr id="47107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8421682" y="1306216"/>
            <a:ext cx="3662164" cy="19976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66DA2D1-7153-F021-8849-FFE06FE1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593" y="490194"/>
            <a:ext cx="9209987" cy="1162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Derivatives of intraembryonic mesoderm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B969EA41-649D-E5D4-B3F6-7A64BCE56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1682" y="3334730"/>
            <a:ext cx="3662164" cy="336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7D458F-0946-AA21-2A6D-CEE71AA4F036}"/>
              </a:ext>
            </a:extLst>
          </p:cNvPr>
          <p:cNvSpPr/>
          <p:nvPr/>
        </p:nvSpPr>
        <p:spPr bwMode="auto">
          <a:xfrm>
            <a:off x="8421682" y="2507530"/>
            <a:ext cx="618623" cy="39592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59661-02D2-AD80-8470-762F7799CB44}"/>
              </a:ext>
            </a:extLst>
          </p:cNvPr>
          <p:cNvSpPr/>
          <p:nvPr/>
        </p:nvSpPr>
        <p:spPr bwMode="auto">
          <a:xfrm>
            <a:off x="11279575" y="1538140"/>
            <a:ext cx="618623" cy="39592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D37B3-4091-C604-D026-F6A3EB752C68}"/>
              </a:ext>
            </a:extLst>
          </p:cNvPr>
          <p:cNvSpPr/>
          <p:nvPr/>
        </p:nvSpPr>
        <p:spPr bwMode="auto">
          <a:xfrm>
            <a:off x="8649497" y="1439224"/>
            <a:ext cx="777307" cy="39592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76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42E95-F88E-5893-7410-DF616B080A9B}"/>
              </a:ext>
            </a:extLst>
          </p:cNvPr>
          <p:cNvSpPr txBox="1"/>
          <p:nvPr/>
        </p:nvSpPr>
        <p:spPr>
          <a:xfrm>
            <a:off x="257174" y="2297921"/>
            <a:ext cx="6888343" cy="414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"/>
              <a:buAutoNum type="arabicPeriod"/>
              <a:tabLst>
                <a:tab pos="355600" algn="l"/>
              </a:tabLst>
            </a:pPr>
            <a:r>
              <a:rPr lang="en-IN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Paraxial</a:t>
            </a:r>
            <a:r>
              <a:rPr lang="en-IN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mesoderm:</a:t>
            </a:r>
            <a:r>
              <a:rPr lang="en-IN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becomes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segmented</a:t>
            </a:r>
            <a:r>
              <a:rPr lang="en-IN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IN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somites</a:t>
            </a:r>
            <a:r>
              <a:rPr lang="en-IN" b="1" spc="-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IN" b="1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cranio-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caudal</a:t>
            </a:r>
            <a:r>
              <a:rPr lang="en-IN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sequence: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(4</a:t>
            </a:r>
            <a:r>
              <a:rPr lang="en-IN" b="1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pairs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occipital,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IN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cervical,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thoracic,</a:t>
            </a:r>
            <a:r>
              <a:rPr lang="en-IN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IN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lumbar,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IN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sacral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8-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IN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coccygeal).</a:t>
            </a:r>
            <a:r>
              <a:rPr lang="en-IN" b="1" spc="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n-IN" b="1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somite</a:t>
            </a:r>
            <a:r>
              <a:rPr lang="en-IN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latin typeface="Calibri" panose="020F0502020204030204" pitchFamily="34" charset="0"/>
                <a:cs typeface="Calibri" panose="020F0502020204030204" pitchFamily="34" charset="0"/>
              </a:rPr>
              <a:t>gives: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0405" lvl="1" indent="-193675">
              <a:lnSpc>
                <a:spcPct val="150000"/>
              </a:lnSpc>
              <a:spcBef>
                <a:spcPts val="695"/>
              </a:spcBef>
              <a:buSzPct val="94444"/>
              <a:buFont typeface="Wingdings"/>
              <a:buChar char=""/>
              <a:tabLst>
                <a:tab pos="700405" algn="l"/>
              </a:tabLst>
            </a:pPr>
            <a:r>
              <a:rPr lang="en-IN" b="1" u="sng" spc="-20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Sclerotome:</a:t>
            </a:r>
            <a:r>
              <a:rPr lang="en-IN" b="1" u="sng" spc="-20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gives</a:t>
            </a:r>
            <a:r>
              <a:rPr lang="en-IN" b="1" spc="-1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vertebra</a:t>
            </a:r>
            <a:r>
              <a:rPr lang="en-IN" b="1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IN" b="1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ribs</a:t>
            </a:r>
            <a:r>
              <a:rPr lang="en-IN" b="1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IN" b="1" spc="-1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sternum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0405" lvl="1" indent="-193675">
              <a:lnSpc>
                <a:spcPct val="150000"/>
              </a:lnSpc>
              <a:spcBef>
                <a:spcPts val="1080"/>
              </a:spcBef>
              <a:buSzPct val="94444"/>
              <a:buFont typeface="Wingdings"/>
              <a:buChar char=""/>
              <a:tabLst>
                <a:tab pos="700405" algn="l"/>
              </a:tabLst>
            </a:pPr>
            <a:r>
              <a:rPr lang="en-IN" b="1" u="sng" spc="-2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u="sng" spc="-20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Dermo-</a:t>
            </a:r>
            <a:r>
              <a:rPr lang="en-IN" b="1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myotome:</a:t>
            </a:r>
            <a:r>
              <a:rPr lang="en-IN" b="1" u="sng" spc="1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Skeletal</a:t>
            </a:r>
            <a:r>
              <a:rPr lang="en-IN" b="1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muscles</a:t>
            </a:r>
            <a:r>
              <a:rPr lang="en-IN" b="1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IN" b="1" spc="-1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Dermis</a:t>
            </a:r>
            <a:r>
              <a:rPr lang="en-IN" b="1" spc="-2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b="1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skin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EE3FB0-2815-7703-39D6-988853FC3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080" y="1044558"/>
            <a:ext cx="4939646" cy="58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Paraxial mesoderm</a:t>
            </a:r>
          </a:p>
        </p:txBody>
      </p:sp>
      <p:pic>
        <p:nvPicPr>
          <p:cNvPr id="5124" name="Picture 4" descr="JaypeeDigital | eBook Reader">
            <a:extLst>
              <a:ext uri="{FF2B5EF4-FFF2-40B4-BE49-F238E27FC236}">
                <a16:creationId xmlns:a16="http://schemas.microsoft.com/office/drawing/2014/main" id="{45BBA96D-CEAA-777B-7228-33D663430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8" b="69533"/>
          <a:stretch>
            <a:fillRect/>
          </a:stretch>
        </p:blipFill>
        <p:spPr bwMode="auto">
          <a:xfrm>
            <a:off x="8064951" y="2097403"/>
            <a:ext cx="3877596" cy="241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5">
            <a:extLst>
              <a:ext uri="{FF2B5EF4-FFF2-40B4-BE49-F238E27FC236}">
                <a16:creationId xmlns:a16="http://schemas.microsoft.com/office/drawing/2014/main" id="{6EA6AC2F-255E-7BB2-DF21-1685FDED5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64951" y="47934"/>
            <a:ext cx="3542368" cy="1995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C4E9CD-6380-BCDE-360D-AFE1AF3AA73B}"/>
              </a:ext>
            </a:extLst>
          </p:cNvPr>
          <p:cNvSpPr/>
          <p:nvPr/>
        </p:nvSpPr>
        <p:spPr bwMode="auto">
          <a:xfrm>
            <a:off x="10806666" y="773001"/>
            <a:ext cx="618623" cy="2733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DBA63A-7574-A569-BAF2-47CA14522ADB}"/>
              </a:ext>
            </a:extLst>
          </p:cNvPr>
          <p:cNvSpPr/>
          <p:nvPr/>
        </p:nvSpPr>
        <p:spPr bwMode="auto">
          <a:xfrm>
            <a:off x="10966276" y="3203677"/>
            <a:ext cx="976271" cy="3125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BC75E-00CE-6E9D-7093-BD262DE1B477}"/>
              </a:ext>
            </a:extLst>
          </p:cNvPr>
          <p:cNvSpPr/>
          <p:nvPr/>
        </p:nvSpPr>
        <p:spPr bwMode="auto">
          <a:xfrm>
            <a:off x="10966275" y="3653496"/>
            <a:ext cx="976271" cy="3125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B7DB7-DE68-9CF1-0981-A2B4D12E56D0}"/>
              </a:ext>
            </a:extLst>
          </p:cNvPr>
          <p:cNvSpPr/>
          <p:nvPr/>
        </p:nvSpPr>
        <p:spPr bwMode="auto">
          <a:xfrm>
            <a:off x="10966275" y="4116736"/>
            <a:ext cx="976271" cy="3125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55B796E-9E8C-1F20-15DB-B6C2D7C0C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16858" y="4579976"/>
            <a:ext cx="4265907" cy="199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637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4682" y="948388"/>
            <a:ext cx="3129422" cy="2327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D8D10-C9C6-EC15-EB45-EB55C96D499A}"/>
              </a:ext>
            </a:extLst>
          </p:cNvPr>
          <p:cNvSpPr txBox="1"/>
          <p:nvPr/>
        </p:nvSpPr>
        <p:spPr>
          <a:xfrm>
            <a:off x="118314" y="2213478"/>
            <a:ext cx="7635417" cy="418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930" indent="-198120">
              <a:lnSpc>
                <a:spcPct val="100000"/>
              </a:lnSpc>
              <a:spcBef>
                <a:spcPts val="1505"/>
              </a:spcBef>
              <a:buSzPct val="97222"/>
              <a:buAutoNum type="arabicPeriod" startAt="2"/>
              <a:tabLst>
                <a:tab pos="201930" algn="l"/>
              </a:tabLst>
            </a:pPr>
            <a:r>
              <a:rPr lang="en-IN"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Intermediate</a:t>
            </a:r>
            <a:r>
              <a:rPr lang="en-IN" sz="2000" b="1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mesoderm</a:t>
            </a:r>
            <a:r>
              <a:rPr lang="en-IN" sz="2000" b="1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Urogenital Structures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2485" lvl="1" indent="-286385">
              <a:lnSpc>
                <a:spcPct val="100000"/>
              </a:lnSpc>
              <a:spcBef>
                <a:spcPts val="890"/>
              </a:spcBef>
              <a:buFont typeface="Wingdings"/>
              <a:buChar char=""/>
              <a:tabLst>
                <a:tab pos="832485" algn="l"/>
              </a:tabLst>
            </a:pP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kidneys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2485" lvl="1" indent="-286385">
              <a:lnSpc>
                <a:spcPct val="100000"/>
              </a:lnSpc>
              <a:spcBef>
                <a:spcPts val="1075"/>
              </a:spcBef>
              <a:buFont typeface="Wingdings"/>
              <a:buChar char=""/>
              <a:tabLst>
                <a:tab pos="832485" algn="l"/>
              </a:tabLst>
            </a:pP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Gonads</a:t>
            </a:r>
            <a:r>
              <a:rPr lang="en-IN" sz="2000" spc="-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(testis</a:t>
            </a:r>
            <a:r>
              <a:rPr lang="en-IN" sz="2000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ovary)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185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831850" algn="l"/>
              </a:tabLst>
            </a:pP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Genital</a:t>
            </a:r>
            <a:r>
              <a:rPr lang="en-IN" sz="2000" spc="-1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ducts</a:t>
            </a:r>
            <a:r>
              <a:rPr lang="en-IN" sz="2000" spc="-2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2000" spc="-3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sexes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6705" indent="-203200">
              <a:lnSpc>
                <a:spcPct val="100000"/>
              </a:lnSpc>
              <a:buAutoNum type="arabicPeriod" startAt="2"/>
              <a:tabLst>
                <a:tab pos="306705" algn="l"/>
              </a:tabLst>
            </a:pPr>
            <a:r>
              <a:rPr lang="en-IN" sz="2000" b="1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Lateral</a:t>
            </a:r>
            <a:r>
              <a:rPr lang="en-IN" sz="20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plate</a:t>
            </a:r>
            <a:r>
              <a:rPr lang="en-IN" sz="20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mesoderm</a:t>
            </a: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000" b="1" spc="-2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divided</a:t>
            </a:r>
            <a:r>
              <a:rPr lang="en-IN" sz="20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intraembryonic </a:t>
            </a:r>
            <a:r>
              <a:rPr lang="en-IN" sz="2000" b="1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celom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6839">
              <a:lnSpc>
                <a:spcPct val="100000"/>
              </a:lnSpc>
              <a:spcBef>
                <a:spcPts val="1080"/>
              </a:spcBef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IN" sz="20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somatic</a:t>
            </a:r>
            <a:r>
              <a:rPr lang="en-IN" sz="2000" spc="-1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splanchnic</a:t>
            </a:r>
            <a:r>
              <a:rPr lang="en-IN" sz="20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layers</a:t>
            </a:r>
            <a:r>
              <a:rPr lang="en-IN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IN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give: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5815" lvl="1" indent="-286385">
              <a:lnSpc>
                <a:spcPct val="100000"/>
              </a:lnSpc>
              <a:spcBef>
                <a:spcPts val="1455"/>
              </a:spcBef>
              <a:buFont typeface="Wingdings"/>
              <a:buChar char=""/>
              <a:tabLst>
                <a:tab pos="805815" algn="l"/>
              </a:tabLst>
            </a:pPr>
            <a:r>
              <a:rPr lang="en-IN" sz="2000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Somatic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000" spc="-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Thoracic</a:t>
            </a:r>
            <a:r>
              <a:rPr lang="en-IN" sz="2000" spc="-3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2000" spc="-2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abdominal</a:t>
            </a:r>
            <a:r>
              <a:rPr lang="en-IN" sz="2000" spc="-2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walls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518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805180" algn="l"/>
              </a:tabLst>
            </a:pPr>
            <a:r>
              <a:rPr lang="en-IN" sz="2000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Splanchnic:</a:t>
            </a:r>
            <a:r>
              <a:rPr lang="en-IN" sz="2000" u="sng" spc="-30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Heart</a:t>
            </a:r>
            <a:r>
              <a:rPr lang="en-IN" sz="2000" spc="-4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IN" sz="2000" spc="-4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smooth</a:t>
            </a:r>
            <a:r>
              <a:rPr lang="en-IN" sz="2000" spc="-3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muscles</a:t>
            </a:r>
            <a:r>
              <a:rPr lang="en-IN" sz="2000" spc="-4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2000" spc="-3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3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GIT,</a:t>
            </a:r>
            <a:r>
              <a:rPr lang="en-IN" sz="2000" spc="-6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respiratory</a:t>
            </a:r>
            <a:r>
              <a:rPr lang="en-IN" sz="2000" spc="-1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5815" lvl="1" indent="-28638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805815" algn="l"/>
              </a:tabLst>
            </a:pPr>
            <a:r>
              <a:rPr lang="en-IN" sz="2000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Intraembryonic</a:t>
            </a:r>
            <a:r>
              <a:rPr lang="en-IN" sz="2000" u="sng" spc="-2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u="sng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celom:</a:t>
            </a:r>
            <a:r>
              <a:rPr lang="en-IN" sz="2000" u="sng" spc="-4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Pericardial,</a:t>
            </a:r>
            <a:r>
              <a:rPr lang="en-IN" sz="2000" spc="-4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pleural</a:t>
            </a:r>
            <a:r>
              <a:rPr lang="en-IN" sz="2000" spc="-4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2000" spc="-5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peritoneal</a:t>
            </a:r>
            <a:r>
              <a:rPr lang="en-IN" sz="2000" spc="-35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1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cavities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2DF587AB-B3A4-18C7-D97A-38DEC519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93253" y="557857"/>
            <a:ext cx="3380433" cy="3108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B03685DE-E990-C64E-23A4-3DA15F85F62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753731" y="4786302"/>
            <a:ext cx="4055795" cy="18786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pPr marL="0" indent="0" eaLnBrk="1" hangingPunct="1">
              <a:buNone/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Intra embryonic coelom forms the </a:t>
            </a:r>
          </a:p>
          <a:p>
            <a:pPr marL="1143000" indent="-571500"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Pleural cavity </a:t>
            </a:r>
          </a:p>
          <a:p>
            <a:pPr marL="1143000" indent="-571500"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Pericardial cavity</a:t>
            </a:r>
          </a:p>
          <a:p>
            <a:pPr marL="1143000" indent="-571500"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Peritoneal cavity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29230C8-0C54-3F48-D9CD-3A990A900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065" y="703147"/>
            <a:ext cx="4911366" cy="980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8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Intermediate and lateral plate  mesoderm</a:t>
            </a:r>
          </a:p>
        </p:txBody>
      </p:sp>
    </p:spTree>
    <p:extLst>
      <p:ext uri="{BB962C8B-B14F-4D97-AF65-F5344CB8AC3E}">
        <p14:creationId xmlns:p14="http://schemas.microsoft.com/office/powerpoint/2010/main" val="2338894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4733771-2EF7-941A-0058-649C051B4301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612594" y="2635250"/>
            <a:ext cx="5270862" cy="41148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B7EEA2C-5183-40DE-FFF9-3615F1308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126" y="968358"/>
            <a:ext cx="5920033" cy="58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Folding of embryo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46E42-D5BF-2CEC-5D16-AF536F586B0B}"/>
              </a:ext>
            </a:extLst>
          </p:cNvPr>
          <p:cNvSpPr txBox="1"/>
          <p:nvPr/>
        </p:nvSpPr>
        <p:spPr>
          <a:xfrm>
            <a:off x="7437159" y="440523"/>
            <a:ext cx="3237715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400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sz="2400" spc="-2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35" dirty="0">
                <a:solidFill>
                  <a:srgbClr val="FF0000"/>
                </a:solidFill>
                <a:latin typeface="Trebuchet MS"/>
                <a:cs typeface="Trebuchet MS"/>
              </a:rPr>
              <a:t>lateral</a:t>
            </a:r>
            <a:r>
              <a:rPr lang="en-US" sz="2400" spc="-2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Trebuchet MS"/>
                <a:cs typeface="Trebuchet MS"/>
              </a:rPr>
              <a:t>folds.</a:t>
            </a:r>
            <a:endParaRPr lang="en-US"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srgbClr val="FF0000"/>
                </a:solidFill>
                <a:latin typeface="Trebuchet MS"/>
                <a:cs typeface="Trebuchet MS"/>
              </a:rPr>
              <a:t>Head</a:t>
            </a:r>
            <a:r>
              <a:rPr lang="en-US" sz="2400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lang="en-US" sz="2400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40" dirty="0">
                <a:solidFill>
                  <a:srgbClr val="FF0000"/>
                </a:solidFill>
                <a:latin typeface="Trebuchet MS"/>
                <a:cs typeface="Trebuchet MS"/>
              </a:rPr>
              <a:t>tail</a:t>
            </a:r>
            <a:r>
              <a:rPr lang="en-US" sz="2400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35" dirty="0">
                <a:solidFill>
                  <a:srgbClr val="FF0000"/>
                </a:solidFill>
                <a:latin typeface="Trebuchet MS"/>
                <a:cs typeface="Trebuchet MS"/>
              </a:rPr>
              <a:t>folds.</a:t>
            </a:r>
            <a:endParaRPr lang="en-US" sz="2400" dirty="0">
              <a:latin typeface="Trebuchet MS"/>
              <a:cs typeface="Trebuchet MS"/>
            </a:endParaRPr>
          </a:p>
        </p:txBody>
      </p:sp>
      <p:pic>
        <p:nvPicPr>
          <p:cNvPr id="8" name="Picture 5" descr="scan0124">
            <a:extLst>
              <a:ext uri="{FF2B5EF4-FFF2-40B4-BE49-F238E27FC236}">
                <a16:creationId xmlns:a16="http://schemas.microsoft.com/office/drawing/2014/main" id="{B0BA390B-AB85-38EC-B444-152DD13B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0" y="2782570"/>
            <a:ext cx="5538846" cy="370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D1D9EFB-7264-6789-9EDF-8292A80AC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08" y="1881629"/>
            <a:ext cx="5920033" cy="58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Head and tail folds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B7CCA4F-481C-9CEC-8851-B73BB1C23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280" y="1790511"/>
            <a:ext cx="4988560" cy="58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Lateral folds</a:t>
            </a:r>
          </a:p>
        </p:txBody>
      </p:sp>
    </p:spTree>
    <p:extLst>
      <p:ext uri="{BB962C8B-B14F-4D97-AF65-F5344CB8AC3E}">
        <p14:creationId xmlns:p14="http://schemas.microsoft.com/office/powerpoint/2010/main" val="370095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245" y="1848665"/>
            <a:ext cx="3325241" cy="4697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AF56EFE-1994-594F-90D2-57FE03EC6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126" y="968358"/>
            <a:ext cx="5920033" cy="58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3600" b="1" kern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Results of folding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C1A86-1F49-597F-A9DE-7D530C6D4AF7}"/>
              </a:ext>
            </a:extLst>
          </p:cNvPr>
          <p:cNvSpPr txBox="1"/>
          <p:nvPr/>
        </p:nvSpPr>
        <p:spPr>
          <a:xfrm>
            <a:off x="145795" y="2497944"/>
            <a:ext cx="2854450" cy="376103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 FOLD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septum transversum, primordium of the heart &amp; oropharyngeal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membrane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to the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Ventral surface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embryo in that order in 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caudal to Cranial sequence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forming head fold.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659F0D4-228D-3E01-6329-1C9117F34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691" y="1887297"/>
            <a:ext cx="2776309" cy="448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D0A988E-DDBC-4873-D7F3-4ED9CB5B7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486" y="2497944"/>
            <a:ext cx="3039405" cy="3855557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2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kern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primitive streak originally cranial </a:t>
            </a:r>
            <a:r>
              <a:rPr lang="en-US" sz="2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the cloacal membrane comes to </a:t>
            </a:r>
            <a:r>
              <a:rPr lang="en-US" sz="2000" b="1" kern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lie caudal </a:t>
            </a:r>
            <a:r>
              <a:rPr lang="en-US" sz="2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it on the ventral surface.</a:t>
            </a:r>
          </a:p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Connecting stalk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attachment also is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shifted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ventral surface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Allantois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partially incorporated into the embryo</a:t>
            </a:r>
            <a:endParaRPr lang="en-US" sz="20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1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D929D24-8C3D-0029-5491-57622F0BE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6614" y="859374"/>
            <a:ext cx="1981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Gut</a:t>
            </a:r>
            <a:r>
              <a:rPr spc="-459" dirty="0"/>
              <a:t> </a:t>
            </a:r>
            <a:r>
              <a:rPr spc="-275" dirty="0"/>
              <a:t>tube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3608632-E65F-8D8F-8512-9F59C42BA0DE}"/>
              </a:ext>
            </a:extLst>
          </p:cNvPr>
          <p:cNvSpPr txBox="1"/>
          <p:nvPr/>
        </p:nvSpPr>
        <p:spPr>
          <a:xfrm>
            <a:off x="160518" y="1889705"/>
            <a:ext cx="6365158" cy="123860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indent="-227329">
              <a:lnSpc>
                <a:spcPct val="15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Divides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25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foregut</a:t>
            </a:r>
            <a:r>
              <a:rPr b="1" spc="-1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6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midgut</a:t>
            </a:r>
            <a:r>
              <a:rPr b="1" spc="-254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hindgut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5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Midgut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connects</a:t>
            </a:r>
            <a:r>
              <a:rPr b="1" spc="-2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yolk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sac</a:t>
            </a:r>
            <a:r>
              <a:rPr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vitelline</a:t>
            </a:r>
            <a:r>
              <a:rPr b="1" spc="-2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duct.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9D62F957-AC2B-5004-E67C-5AA84EB97AE5}"/>
              </a:ext>
            </a:extLst>
          </p:cNvPr>
          <p:cNvPicPr/>
          <p:nvPr/>
        </p:nvPicPr>
        <p:blipFill>
          <a:blip r:embed="rId2" cstate="print"/>
          <a:srcRect b="7038"/>
          <a:stretch>
            <a:fillRect/>
          </a:stretch>
        </p:blipFill>
        <p:spPr>
          <a:xfrm>
            <a:off x="6525676" y="3428999"/>
            <a:ext cx="5392557" cy="326707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E16ED28-F2D0-4969-21A3-686ADD43D2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653" y="333376"/>
            <a:ext cx="5611827" cy="2794938"/>
          </a:xfrm>
          <a:prstGeom prst="rect">
            <a:avLst/>
          </a:prstGeom>
        </p:spPr>
      </p:pic>
      <p:pic>
        <p:nvPicPr>
          <p:cNvPr id="2" name="Picture 7" descr="C:\Users\USER\Pictures\ANATOMY006.jpg">
            <a:extLst>
              <a:ext uri="{FF2B5EF4-FFF2-40B4-BE49-F238E27FC236}">
                <a16:creationId xmlns:a16="http://schemas.microsoft.com/office/drawing/2014/main" id="{31CB42BC-85D5-71C2-2291-D535D2F76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43" y="3255709"/>
            <a:ext cx="4132082" cy="329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844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1463276-A7E3-F1A4-7F7E-A3FD932E56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5139" y="827862"/>
            <a:ext cx="71189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Formation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-425" dirty="0"/>
              <a:t> </a:t>
            </a:r>
            <a:r>
              <a:rPr spc="-235" dirty="0"/>
              <a:t>pharyngeal</a:t>
            </a:r>
            <a:r>
              <a:rPr spc="-450" dirty="0"/>
              <a:t> </a:t>
            </a:r>
            <a:r>
              <a:rPr spc="-65" dirty="0"/>
              <a:t>arches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173FA24-DA92-F20D-4DC6-FA24C64363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8260" y="3187700"/>
            <a:ext cx="8845639" cy="3549814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6B6298CB-237B-C7B6-30A6-35F67D2D96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110" y="2446546"/>
            <a:ext cx="2857499" cy="4266055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E58E0364-FC3B-A1BA-CD76-BF3532AB56E4}"/>
              </a:ext>
            </a:extLst>
          </p:cNvPr>
          <p:cNvSpPr txBox="1"/>
          <p:nvPr/>
        </p:nvSpPr>
        <p:spPr>
          <a:xfrm>
            <a:off x="3219450" y="1885815"/>
            <a:ext cx="8705849" cy="10642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</a:pPr>
            <a:r>
              <a:rPr b="1" kern="0" dirty="0">
                <a:latin typeface="Calibri"/>
                <a:cs typeface="Calibri"/>
              </a:rPr>
              <a:t>Appear in </a:t>
            </a:r>
            <a:r>
              <a:rPr b="1" kern="0" dirty="0">
                <a:solidFill>
                  <a:srgbClr val="FF0000"/>
                </a:solidFill>
                <a:latin typeface="Calibri"/>
                <a:cs typeface="Calibri"/>
              </a:rPr>
              <a:t>the fourth and fifth weeks </a:t>
            </a:r>
            <a:r>
              <a:rPr b="1" kern="0" dirty="0">
                <a:latin typeface="Calibri"/>
                <a:cs typeface="Calibri"/>
              </a:rPr>
              <a:t>of development.</a:t>
            </a:r>
          </a:p>
          <a:p>
            <a:pPr marL="12700">
              <a:lnSpc>
                <a:spcPct val="150000"/>
              </a:lnSpc>
            </a:pPr>
            <a:r>
              <a:rPr b="1" kern="0" dirty="0">
                <a:latin typeface="Calibri"/>
                <a:cs typeface="Calibri"/>
              </a:rPr>
              <a:t>Contribute to the characteristic external appearance of the embryo.</a:t>
            </a:r>
          </a:p>
        </p:txBody>
      </p:sp>
    </p:spTree>
    <p:extLst>
      <p:ext uri="{BB962C8B-B14F-4D97-AF65-F5344CB8AC3E}">
        <p14:creationId xmlns:p14="http://schemas.microsoft.com/office/powerpoint/2010/main" val="114344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6177" y="303402"/>
            <a:ext cx="935926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27655" marR="5080" indent="-2815590">
              <a:lnSpc>
                <a:spcPts val="4750"/>
              </a:lnSpc>
              <a:spcBef>
                <a:spcPts val="700"/>
              </a:spcBef>
            </a:pPr>
            <a:r>
              <a:rPr spc="-250" dirty="0"/>
              <a:t>External</a:t>
            </a:r>
            <a:r>
              <a:rPr spc="-440" dirty="0"/>
              <a:t> </a:t>
            </a:r>
            <a:r>
              <a:rPr spc="-215" dirty="0"/>
              <a:t>appearance</a:t>
            </a:r>
            <a:r>
              <a:rPr spc="-465" dirty="0"/>
              <a:t> </a:t>
            </a:r>
            <a:r>
              <a:rPr spc="-260" dirty="0"/>
              <a:t>in</a:t>
            </a:r>
            <a:r>
              <a:rPr spc="-440" dirty="0"/>
              <a:t> </a:t>
            </a:r>
            <a:r>
              <a:rPr spc="-290" dirty="0"/>
              <a:t>the</a:t>
            </a:r>
            <a:r>
              <a:rPr spc="-440" dirty="0"/>
              <a:t> </a:t>
            </a:r>
            <a:r>
              <a:rPr spc="-100" dirty="0"/>
              <a:t>second</a:t>
            </a:r>
            <a:r>
              <a:rPr spc="-470" dirty="0"/>
              <a:t> </a:t>
            </a:r>
            <a:r>
              <a:rPr spc="-100" dirty="0"/>
              <a:t>month </a:t>
            </a:r>
            <a:r>
              <a:rPr spc="-140" dirty="0">
                <a:solidFill>
                  <a:srgbClr val="FF0000"/>
                </a:solidFill>
              </a:rPr>
              <a:t>More</a:t>
            </a:r>
            <a:r>
              <a:rPr spc="-459" dirty="0">
                <a:solidFill>
                  <a:srgbClr val="FF0000"/>
                </a:solidFill>
              </a:rPr>
              <a:t> </a:t>
            </a:r>
            <a:r>
              <a:rPr spc="-175" dirty="0">
                <a:solidFill>
                  <a:srgbClr val="FF0000"/>
                </a:solidFill>
              </a:rPr>
              <a:t>human</a:t>
            </a:r>
            <a:r>
              <a:rPr spc="-475" dirty="0">
                <a:solidFill>
                  <a:srgbClr val="FF0000"/>
                </a:solidFill>
              </a:rPr>
              <a:t> </a:t>
            </a:r>
            <a:r>
              <a:rPr spc="-320" dirty="0">
                <a:solidFill>
                  <a:srgbClr val="FF0000"/>
                </a:solidFill>
              </a:rPr>
              <a:t>like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42" y="2593453"/>
            <a:ext cx="3538220" cy="2761653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</a:t>
            </a:r>
            <a:r>
              <a:rPr b="1" spc="-2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eyes.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ears.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nose.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</a:t>
            </a:r>
            <a:r>
              <a:rPr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limbs.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1927" y="2060449"/>
            <a:ext cx="3937563" cy="37335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2909" y="2593453"/>
            <a:ext cx="2985800" cy="33847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80931" y="5711748"/>
            <a:ext cx="1256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7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weeks</a:t>
            </a:r>
            <a:endParaRPr sz="2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4187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Formation</a:t>
            </a:r>
            <a:r>
              <a:rPr spc="-480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240" dirty="0"/>
              <a:t>upper</a:t>
            </a:r>
            <a:r>
              <a:rPr spc="-445" dirty="0"/>
              <a:t> </a:t>
            </a:r>
            <a:r>
              <a:rPr spc="-175" dirty="0"/>
              <a:t>and</a:t>
            </a:r>
            <a:r>
              <a:rPr spc="-434" dirty="0"/>
              <a:t> </a:t>
            </a:r>
            <a:r>
              <a:rPr spc="-240" dirty="0"/>
              <a:t>lower</a:t>
            </a:r>
            <a:r>
              <a:rPr spc="-445" dirty="0"/>
              <a:t> </a:t>
            </a:r>
            <a:r>
              <a:rPr spc="-35" dirty="0"/>
              <a:t>limbs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009" y="2033142"/>
            <a:ext cx="4737735" cy="413876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81001" marR="431165" indent="-342900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Appearance</a:t>
            </a:r>
            <a:r>
              <a:rPr b="1" spc="-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limb</a:t>
            </a:r>
            <a:r>
              <a:rPr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</a:t>
            </a:r>
            <a:r>
              <a:rPr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	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b="1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b="1" spc="-120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1001" marR="30480" indent="-342900">
              <a:lnSpc>
                <a:spcPct val="150000"/>
              </a:lnSpc>
              <a:spcBef>
                <a:spcPts val="1005"/>
              </a:spcBef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b="1" spc="-11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</a:t>
            </a:r>
            <a:r>
              <a:rPr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limbs 	</a:t>
            </a:r>
            <a:r>
              <a:rPr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b="1" spc="-2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parts.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1001" marR="336550" indent="-342900">
              <a:lnSpc>
                <a:spcPct val="150000"/>
              </a:lnSpc>
              <a:spcBef>
                <a:spcPts val="969"/>
              </a:spcBef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b="1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</a:t>
            </a:r>
            <a:r>
              <a:rPr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rays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appear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</a:t>
            </a:r>
            <a:r>
              <a:rPr b="1" spc="-2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fingers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toes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formed</a:t>
            </a:r>
            <a:r>
              <a:rPr b="1" spc="-2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b="1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b="1" spc="-127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47335" y="1953514"/>
            <a:ext cx="7299959" cy="4831715"/>
            <a:chOff x="4847335" y="1953514"/>
            <a:chExt cx="7299959" cy="48317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7335" y="2004552"/>
              <a:ext cx="3896741" cy="47804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0095" y="1953514"/>
              <a:ext cx="3766693" cy="4539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6140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1277" y="609976"/>
            <a:ext cx="6478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Herniation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25" dirty="0"/>
              <a:t> </a:t>
            </a:r>
            <a:r>
              <a:rPr spc="-235" dirty="0"/>
              <a:t>intestinal</a:t>
            </a:r>
            <a:r>
              <a:rPr spc="-434" dirty="0"/>
              <a:t> </a:t>
            </a:r>
            <a:r>
              <a:rPr spc="-1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7244" y="2810890"/>
            <a:ext cx="3199791" cy="2436373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5430" indent="-227329">
              <a:lnSpc>
                <a:spcPct val="150000"/>
              </a:lnSpc>
              <a:spcBef>
                <a:spcPts val="765"/>
              </a:spcBef>
              <a:buFont typeface="Arial MT"/>
              <a:buChar char="•"/>
              <a:tabLst>
                <a:tab pos="265430" algn="l"/>
              </a:tabLst>
            </a:pPr>
            <a:r>
              <a:rPr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b="1" spc="-2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b="1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b="1" spc="-67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65430" indent="-227329">
              <a:lnSpc>
                <a:spcPct val="150000"/>
              </a:lnSpc>
              <a:spcBef>
                <a:spcPts val="660"/>
              </a:spcBef>
              <a:buFont typeface="Arial MT"/>
              <a:buChar char="•"/>
              <a:tabLst>
                <a:tab pos="265430" algn="l"/>
              </a:tabLst>
            </a:pP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umbilical</a:t>
            </a:r>
            <a:r>
              <a:rPr b="1" spc="-22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cord.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65430" indent="-227329">
              <a:lnSpc>
                <a:spcPct val="150000"/>
              </a:lnSpc>
              <a:spcBef>
                <a:spcPts val="675"/>
              </a:spcBef>
              <a:buFont typeface="Arial MT"/>
              <a:buChar char="•"/>
              <a:tabLst>
                <a:tab pos="265430" algn="l"/>
              </a:tabLst>
            </a:pP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b="1" spc="-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</a:t>
            </a:r>
            <a:r>
              <a:rPr b="1" spc="-2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b="1" spc="-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b="1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b="1" spc="52" baseline="255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week.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115" y="2130099"/>
            <a:ext cx="4080781" cy="39400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6034" y="6006516"/>
            <a:ext cx="1089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6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week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026" name="Picture 2" descr="Figure 1 from Anatomy and Physiology of the Small Bowel. | Semantic Scholar">
            <a:extLst>
              <a:ext uri="{FF2B5EF4-FFF2-40B4-BE49-F238E27FC236}">
                <a16:creationId xmlns:a16="http://schemas.microsoft.com/office/drawing/2014/main" id="{B9FCC36A-9CA7-CE12-ABDA-8662954A0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209" y="1734254"/>
            <a:ext cx="4637241" cy="472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96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778" y="257387"/>
            <a:ext cx="49549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How</a:t>
            </a:r>
            <a:r>
              <a:rPr spc="-470" dirty="0"/>
              <a:t> </a:t>
            </a:r>
            <a:r>
              <a:rPr spc="-290" dirty="0"/>
              <a:t>to</a:t>
            </a:r>
            <a:r>
              <a:rPr spc="-465" dirty="0"/>
              <a:t> </a:t>
            </a:r>
            <a:r>
              <a:rPr spc="-265" dirty="0"/>
              <a:t>determine</a:t>
            </a:r>
            <a:r>
              <a:rPr spc="-470" dirty="0"/>
              <a:t> </a:t>
            </a:r>
            <a:r>
              <a:rPr spc="-145" dirty="0"/>
              <a:t>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042" y="1129004"/>
            <a:ext cx="4888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80" dirty="0">
                <a:solidFill>
                  <a:srgbClr val="FF0000"/>
                </a:solidFill>
                <a:latin typeface="Trebuchet MS"/>
                <a:cs typeface="Trebuchet MS"/>
              </a:rPr>
              <a:t>1.</a:t>
            </a:r>
            <a:r>
              <a:rPr sz="4400" spc="-45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400" spc="-170" dirty="0">
                <a:solidFill>
                  <a:srgbClr val="FF0000"/>
                </a:solidFill>
                <a:latin typeface="Trebuchet MS"/>
                <a:cs typeface="Trebuchet MS"/>
              </a:rPr>
              <a:t>Number</a:t>
            </a:r>
            <a:r>
              <a:rPr sz="4400" spc="-4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400" spc="-26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4400" spc="-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400" spc="-70" dirty="0">
                <a:solidFill>
                  <a:srgbClr val="FF0000"/>
                </a:solidFill>
                <a:latin typeface="Trebuchet MS"/>
                <a:cs typeface="Trebuchet MS"/>
              </a:rPr>
              <a:t>somites</a:t>
            </a:r>
            <a:endParaRPr sz="44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7907" y="1825599"/>
            <a:ext cx="4303902" cy="4390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66" y="2194496"/>
            <a:ext cx="4329176" cy="38322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90358" y="6127496"/>
            <a:ext cx="2777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28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somite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embryo</a:t>
            </a:r>
            <a:endParaRPr sz="2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1902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414" y="112078"/>
            <a:ext cx="49549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How</a:t>
            </a:r>
            <a:r>
              <a:rPr spc="-470" dirty="0"/>
              <a:t> </a:t>
            </a:r>
            <a:r>
              <a:rPr spc="-290" dirty="0"/>
              <a:t>to</a:t>
            </a:r>
            <a:r>
              <a:rPr spc="-465" dirty="0"/>
              <a:t> </a:t>
            </a:r>
            <a:r>
              <a:rPr spc="-265" dirty="0"/>
              <a:t>determine</a:t>
            </a:r>
            <a:r>
              <a:rPr spc="-470" dirty="0"/>
              <a:t> </a:t>
            </a:r>
            <a:r>
              <a:rPr spc="-145" dirty="0"/>
              <a:t>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7335" y="570002"/>
            <a:ext cx="8895773" cy="2110193"/>
          </a:xfrm>
          <a:prstGeom prst="rect">
            <a:avLst/>
          </a:prstGeom>
        </p:spPr>
        <p:txBody>
          <a:bodyPr vert="horz" wrap="square" lIns="0" tIns="349885" rIns="0" bIns="0" rtlCol="0">
            <a:spAutoFit/>
          </a:bodyPr>
          <a:lstStyle/>
          <a:p>
            <a:pPr marL="549275" indent="-536575">
              <a:lnSpc>
                <a:spcPct val="100000"/>
              </a:lnSpc>
              <a:spcBef>
                <a:spcPts val="2755"/>
              </a:spcBef>
              <a:buAutoNum type="arabicPeriod" startAt="2"/>
              <a:tabLst>
                <a:tab pos="549275" algn="l"/>
              </a:tabLst>
            </a:pPr>
            <a:r>
              <a:rPr sz="4400" spc="-135" dirty="0">
                <a:solidFill>
                  <a:srgbClr val="FF0000"/>
                </a:solidFill>
                <a:latin typeface="Trebuchet MS"/>
                <a:cs typeface="Trebuchet MS"/>
              </a:rPr>
              <a:t>Crown-</a:t>
            </a:r>
            <a:r>
              <a:rPr sz="4400" spc="-225" dirty="0">
                <a:solidFill>
                  <a:srgbClr val="FF0000"/>
                </a:solidFill>
                <a:latin typeface="Trebuchet MS"/>
                <a:cs typeface="Trebuchet MS"/>
              </a:rPr>
              <a:t>rump</a:t>
            </a:r>
            <a:r>
              <a:rPr sz="4400" spc="-43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400" spc="-280" dirty="0">
                <a:solidFill>
                  <a:srgbClr val="FF0000"/>
                </a:solidFill>
                <a:latin typeface="Trebuchet MS"/>
                <a:cs typeface="Trebuchet MS"/>
              </a:rPr>
              <a:t>length</a:t>
            </a:r>
            <a:endParaRPr sz="4400" dirty="0">
              <a:latin typeface="Trebuchet MS"/>
              <a:cs typeface="Trebuchet MS"/>
            </a:endParaRPr>
          </a:p>
          <a:p>
            <a:pPr marL="240665" lvl="1" indent="-2279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50" dirty="0">
                <a:latin typeface="Trebuchet MS"/>
                <a:cs typeface="Trebuchet MS"/>
              </a:rPr>
              <a:t>From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vertex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skull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midpoint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ap</a:t>
            </a:r>
            <a:r>
              <a:rPr lang="en-IN" sz="2800" dirty="0">
                <a:latin typeface="Trebuchet MS"/>
                <a:cs typeface="Trebuchet MS"/>
              </a:rPr>
              <a:t>ex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buttocks.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414" y="2899448"/>
            <a:ext cx="5928185" cy="3394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1927" y="2960879"/>
            <a:ext cx="3937563" cy="373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5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D38F98-2E01-FC1A-6D1E-D203A400C7BB}"/>
              </a:ext>
            </a:extLst>
          </p:cNvPr>
          <p:cNvSpPr txBox="1"/>
          <p:nvPr/>
        </p:nvSpPr>
        <p:spPr>
          <a:xfrm>
            <a:off x="1075371" y="3011170"/>
            <a:ext cx="10041255" cy="12798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Langman's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Medical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Embryology: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lang="en-IN" sz="2800" b="1" spc="-10" dirty="0">
                <a:latin typeface="Calibri"/>
                <a:cs typeface="Calibri"/>
              </a:rPr>
              <a:t>Third to Eight weeks: The Embryonic Period (page no:73-97)</a:t>
            </a:r>
          </a:p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7A9CF5-F13A-2689-18B1-5F176DA2B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7209" y="865529"/>
            <a:ext cx="2998382" cy="747713"/>
          </a:xfrm>
        </p:spPr>
        <p:txBody>
          <a:bodyPr/>
          <a:lstStyle/>
          <a:p>
            <a:r>
              <a:rPr lang="en-US" sz="3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Trebuchet MS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39623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en writing on a piece of paper&#10;&#10;AI-generated content may be incorrect.">
            <a:extLst>
              <a:ext uri="{FF2B5EF4-FFF2-40B4-BE49-F238E27FC236}">
                <a16:creationId xmlns:a16="http://schemas.microsoft.com/office/drawing/2014/main" id="{B9A907ED-DA57-27E3-AD15-57D4C5074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" r="2" b="2"/>
          <a:stretch>
            <a:fillRect/>
          </a:stretch>
        </p:blipFill>
        <p:spPr>
          <a:xfrm>
            <a:off x="5044440" y="2017713"/>
            <a:ext cx="6432452" cy="4840287"/>
          </a:xfrm>
          <a:prstGeom prst="rect">
            <a:avLst/>
          </a:prstGeom>
          <a:noFill/>
        </p:spPr>
      </p:pic>
      <p:pic>
        <p:nvPicPr>
          <p:cNvPr id="4" name="Content Placeholder 3" descr="images (6).jpg"/>
          <p:cNvPicPr>
            <a:picLocks noGrp="1" noChangeAspect="1"/>
          </p:cNvPicPr>
          <p:nvPr>
            <p:ph sz="quarter" idx="13"/>
          </p:nvPr>
        </p:nvPicPr>
        <p:blipFill>
          <a:blip r:embed="rId3" cstate="print"/>
          <a:stretch>
            <a:fillRect/>
          </a:stretch>
        </p:blipFill>
        <p:spPr>
          <a:xfrm>
            <a:off x="4135121" y="2017713"/>
            <a:ext cx="2946400" cy="2531415"/>
          </a:xfrm>
        </p:spPr>
      </p:pic>
    </p:spTree>
    <p:extLst>
      <p:ext uri="{BB962C8B-B14F-4D97-AF65-F5344CB8AC3E}">
        <p14:creationId xmlns:p14="http://schemas.microsoft.com/office/powerpoint/2010/main" val="40768463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F5D8DB47-BA4D-48D5-9E2B-1952D9DA4117}" vid="{4FD91A6C-9800-4353-BCDD-E4A245CF019E}"/>
    </a:ext>
  </a:extLst>
</a:theme>
</file>

<file path=ppt/theme/theme2.xml><?xml version="1.0" encoding="utf-8"?>
<a:theme xmlns:a="http://schemas.openxmlformats.org/drawingml/2006/main" name="2_Theme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F5D8DB47-BA4D-48D5-9E2B-1952D9DA4117}" vid="{4FD91A6C-9800-4353-BCDD-E4A245CF01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2271</TotalTime>
  <Words>678</Words>
  <Application>Microsoft Office PowerPoint</Application>
  <PresentationFormat>Widescreen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MT</vt:lpstr>
      <vt:lpstr>Calibri</vt:lpstr>
      <vt:lpstr>Tahoma</vt:lpstr>
      <vt:lpstr>Trebuchet MS</vt:lpstr>
      <vt:lpstr>Wingdings</vt:lpstr>
      <vt:lpstr>Theme1</vt:lpstr>
      <vt:lpstr>2_Theme1</vt:lpstr>
      <vt:lpstr>Embryonic Period (3-8 weeks)</vt:lpstr>
      <vt:lpstr>SLOs</vt:lpstr>
      <vt:lpstr>RECAP of Third Week of development</vt:lpstr>
      <vt:lpstr>Trilaminar germ disc &amp; gastrulation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Gut tube</vt:lpstr>
      <vt:lpstr>Formation of pharyngeal arches</vt:lpstr>
      <vt:lpstr>External appearance in the second month More human like</vt:lpstr>
      <vt:lpstr>Formation of upper and lower limbs</vt:lpstr>
      <vt:lpstr>Herniation of intestinal loops</vt:lpstr>
      <vt:lpstr>How to determine age</vt:lpstr>
      <vt:lpstr>How to determine age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Khizer Hussain Afroze</dc:creator>
  <cp:lastModifiedBy>Khizer Hussain Afroze</cp:lastModifiedBy>
  <cp:revision>55</cp:revision>
  <dcterms:created xsi:type="dcterms:W3CDTF">2025-09-23T05:41:05Z</dcterms:created>
  <dcterms:modified xsi:type="dcterms:W3CDTF">2025-10-01T11:10:49Z</dcterms:modified>
</cp:coreProperties>
</file>